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1"/>
    <p:sldMasterId id="2147483678" r:id="rId2"/>
    <p:sldMasterId id="2147483697" r:id="rId3"/>
  </p:sldMasterIdLst>
  <p:notesMasterIdLst>
    <p:notesMasterId r:id="rId1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embeddedFontLst>
    <p:embeddedFont>
      <p:font typeface="Aptos" panose="020B0004020202020204" pitchFamily="34" charset="0"/>
      <p:regular r:id="rId12"/>
      <p:bold r:id="rId13"/>
      <p:italic r:id="rId14"/>
      <p:boldItalic r:id="rId15"/>
    </p:embeddedFont>
    <p:embeddedFont>
      <p:font typeface="Roboto" panose="02000000000000000000" pitchFamily="2" charset="0"/>
      <p:regular r:id="rId16"/>
      <p:bold r:id="rId17"/>
      <p:italic r:id="rId18"/>
      <p:boldItalic r:id="rId19"/>
    </p:embeddedFont>
    <p:embeddedFont>
      <p:font typeface="Roboto Condensed" panose="02000000000000000000" pitchFamily="2" charset="0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7B8575D-22C4-9F43-998F-3CBE6C4AD19C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9649"/>
    <a:srgbClr val="909C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F36319-3A34-779D-E0C2-25A2793290C3}" v="28" dt="2026-02-27T19:12:20.9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30"/>
    <p:restoredTop sz="94678"/>
  </p:normalViewPr>
  <p:slideViewPr>
    <p:cSldViewPr snapToGrid="0">
      <p:cViewPr varScale="1">
        <p:scale>
          <a:sx n="142" d="100"/>
          <a:sy n="142" d="100"/>
        </p:scale>
        <p:origin x="12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21" Type="http://schemas.openxmlformats.org/officeDocument/2006/relationships/font" Target="fonts/font10.fntdata"/><Relationship Id="rId7" Type="http://schemas.openxmlformats.org/officeDocument/2006/relationships/slide" Target="slides/slide4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microsoft.com/office/2015/10/relationships/revisionInfo" Target="revisionInfo.xml"/><Relationship Id="rId10" Type="http://schemas.openxmlformats.org/officeDocument/2006/relationships/slide" Target="slides/slide7.xml"/><Relationship Id="rId19" Type="http://schemas.openxmlformats.org/officeDocument/2006/relationships/font" Target="fonts/font8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4E7BFE-48F1-D344-88B2-FBD8A0120549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AF70DA-8108-3F44-80B0-A3328BE33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241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sv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sv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sv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sv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sv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sv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sv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sv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sv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3.sv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7.sv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7.sv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7.sv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7.sv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7.sv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4.sv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7.sv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4.sv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BD6E7-93C0-80D4-FE7D-A178A1D2C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2291557"/>
            <a:ext cx="10972800" cy="1909763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6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1219AD-2E2E-C812-DB43-4251C2D4EE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4345172"/>
            <a:ext cx="10972800" cy="912628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6" name="Picture 15" descr="A black and white logo  Description automatically generated">
            <a:extLst>
              <a:ext uri="{FF2B5EF4-FFF2-40B4-BE49-F238E27FC236}">
                <a16:creationId xmlns:a16="http://schemas.microsoft.com/office/drawing/2014/main" id="{F5F8B216-E1C5-9380-4B3B-CE2C42587E0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742157"/>
            <a:ext cx="2286000" cy="666750"/>
          </a:xfrm>
          <a:prstGeom prst="rect">
            <a:avLst/>
          </a:prstGeom>
        </p:spPr>
      </p:pic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5AA370CC-454D-2D54-69B7-66E89DE0ACC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6828A8E1-88D1-5C1F-686A-DDA31EDE181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973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3912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/ Design Elements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8CE1FAE1-30B2-C97F-EB59-122B5F2E548C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EF404861-950E-7EA6-378B-A929CD310130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F4D7D1-DD60-636F-57C8-510367FEA744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44A0963-3376-B4DE-9040-0A3F29B6D4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509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E1435C5-D062-7E0C-5083-326E5925A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DC0F86FE-ED8A-B786-C577-159BB0EFAA24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E80978B6-7CF2-2036-E747-3965FC12538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9A965D-9F58-4E9C-327A-5A18BE5E37D7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BE20A49-64C4-9FEA-3BDB-A7A0F11622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379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E1435C5-D062-7E0C-5083-326E5925A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DC0F86FE-ED8A-B786-C577-159BB0EFAA24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E80978B6-7CF2-2036-E747-3965FC12538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9A965D-9F58-4E9C-327A-5A18BE5E37D7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BE20A49-64C4-9FEA-3BDB-A7A0F11622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142808AC-C545-4E7A-FF41-EA4AA54BCB4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476" y="1110417"/>
            <a:ext cx="11393424" cy="40011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subtitle text</a:t>
            </a:r>
          </a:p>
        </p:txBody>
      </p:sp>
    </p:spTree>
    <p:extLst>
      <p:ext uri="{BB962C8B-B14F-4D97-AF65-F5344CB8AC3E}">
        <p14:creationId xmlns:p14="http://schemas.microsoft.com/office/powerpoint/2010/main" val="4287519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606E8-4FC5-5BAE-010D-304198E03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79" y="1378626"/>
            <a:ext cx="11384279" cy="47708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2FAA564-2E2C-C1B3-DA26-E3A548CF8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1FE76A11-8345-A230-D648-95FDFC953103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B6C4310E-3FD9-3B97-261B-6E679046BFA9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EDA5FA-9C5D-1D4F-9F9D-62C0317F458B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CF62BAB-EC17-1AD0-790C-57F6264D32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163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Text Containers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3251BB-74BB-A052-D3B1-6592DC86FE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42158" y="1657355"/>
            <a:ext cx="4825042" cy="4229095"/>
          </a:xfrm>
        </p:spPr>
        <p:txBody>
          <a:bodyPr lIns="0" rIns="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A4E1FA2-324F-89B0-EF45-205E0C3742DB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624802" y="1657355"/>
            <a:ext cx="4825042" cy="4229095"/>
          </a:xfrm>
        </p:spPr>
        <p:txBody>
          <a:bodyPr lIns="0" rIns="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533017B-914A-5BA6-88E9-26A924F57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E6B3276-E3BC-F438-B494-F3D0803BFEFB}"/>
              </a:ext>
            </a:extLst>
          </p:cNvPr>
          <p:cNvSpPr/>
          <p:nvPr userDrawn="1"/>
        </p:nvSpPr>
        <p:spPr>
          <a:xfrm>
            <a:off x="411478" y="1378626"/>
            <a:ext cx="548640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A23937B-15C1-215F-B833-E061723080B4}"/>
              </a:ext>
            </a:extLst>
          </p:cNvPr>
          <p:cNvSpPr/>
          <p:nvPr userDrawn="1"/>
        </p:nvSpPr>
        <p:spPr>
          <a:xfrm>
            <a:off x="6228558" y="1378626"/>
            <a:ext cx="548640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579D148E-4FA6-6C2F-4283-06E139F1C9B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1EC51F8D-561D-9881-2B33-8E87E12E5F8A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55F9D8-4BF1-0FBE-8224-76D03F28435A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08753D83-229A-6B35-CBE7-0E76E64B22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4544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hree Text Containers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E02D17F-FC52-34EC-63C3-79BE6A9E52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6093" y="1633700"/>
            <a:ext cx="2909976" cy="4301402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D3ED73E-BE08-FC54-74C8-D13CECC33782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641012" y="1633699"/>
            <a:ext cx="2909976" cy="4301402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62DBD1F-CC2F-5B7F-D47E-4B584694791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590354" y="1633699"/>
            <a:ext cx="2909976" cy="4301402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5220D60-1E94-FD5E-DCA6-36C5C4EB1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9E2A872-3419-7DF3-DABE-0AC08B0AE1BE}"/>
              </a:ext>
            </a:extLst>
          </p:cNvPr>
          <p:cNvSpPr/>
          <p:nvPr userDrawn="1"/>
        </p:nvSpPr>
        <p:spPr>
          <a:xfrm>
            <a:off x="4358640" y="1378626"/>
            <a:ext cx="347472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BDCAD2B-AD13-3EC2-C485-8B10D7E6FAFD}"/>
              </a:ext>
            </a:extLst>
          </p:cNvPr>
          <p:cNvSpPr/>
          <p:nvPr userDrawn="1"/>
        </p:nvSpPr>
        <p:spPr>
          <a:xfrm>
            <a:off x="8305801" y="1378626"/>
            <a:ext cx="347472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528000E-334F-5072-9CBF-EF7C13062BAC}"/>
              </a:ext>
            </a:extLst>
          </p:cNvPr>
          <p:cNvSpPr/>
          <p:nvPr userDrawn="1"/>
        </p:nvSpPr>
        <p:spPr>
          <a:xfrm>
            <a:off x="411479" y="1378626"/>
            <a:ext cx="347472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CD9BE346-D228-1FBD-C3F7-3F908A68061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827A963F-5E25-3D33-C815-651A06BA199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F0286-677A-1090-10FC-B9DC8A1623DD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C8F7D25-B34E-8315-7FDE-6217F2BA17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8641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our Text Containers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8F7C774-3912-EA6A-0164-5460BC130D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237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5165D76-AF54-B141-E08F-D3D6A2FED960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620334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481AD61-7F55-BBD7-F80A-7C9460E50734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547431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7A9AF011-F62D-DD04-FA3E-FA997B8210EF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474527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C4EDE80C-83DC-EFF7-1D0A-62B13EC36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61DF9D1-DAD3-8617-D015-E0063E38049E}"/>
              </a:ext>
            </a:extLst>
          </p:cNvPr>
          <p:cNvSpPr/>
          <p:nvPr userDrawn="1"/>
        </p:nvSpPr>
        <p:spPr>
          <a:xfrm>
            <a:off x="404751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8A7517D-84EA-6899-3A17-D1F43D17EA34}"/>
              </a:ext>
            </a:extLst>
          </p:cNvPr>
          <p:cNvSpPr/>
          <p:nvPr userDrawn="1"/>
        </p:nvSpPr>
        <p:spPr>
          <a:xfrm>
            <a:off x="3331847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E723438-5145-9F19-2E26-518E84A66551}"/>
              </a:ext>
            </a:extLst>
          </p:cNvPr>
          <p:cNvSpPr/>
          <p:nvPr userDrawn="1"/>
        </p:nvSpPr>
        <p:spPr>
          <a:xfrm>
            <a:off x="6258943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050050D-992B-252D-0568-025F32DEE53C}"/>
              </a:ext>
            </a:extLst>
          </p:cNvPr>
          <p:cNvSpPr/>
          <p:nvPr userDrawn="1"/>
        </p:nvSpPr>
        <p:spPr>
          <a:xfrm>
            <a:off x="9192769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38BAE8F1-7A97-7A26-51BB-BBCDC03ED17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A4FFF755-18A4-91FD-8C95-145669BE3A82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E30C54-4E56-804C-207E-4163ECE41B50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0200498-E79B-6C9F-EFDF-9498DA2756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963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debar Blank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0191EF-DD4B-7425-BE0C-15D6619D6F36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4" name="Picture 3" descr="A blue and white background  AI-generated content may be incorrect.">
            <a:extLst>
              <a:ext uri="{FF2B5EF4-FFF2-40B4-BE49-F238E27FC236}">
                <a16:creationId xmlns:a16="http://schemas.microsoft.com/office/drawing/2014/main" id="{3CFA1267-2FA0-F577-A99A-9C2295FFD7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12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535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with Content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background  AI-generated content may be incorrect.">
            <a:extLst>
              <a:ext uri="{FF2B5EF4-FFF2-40B4-BE49-F238E27FC236}">
                <a16:creationId xmlns:a16="http://schemas.microsoft.com/office/drawing/2014/main" id="{70E43184-27D9-16D0-7DB2-9B95D3A3F2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12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B201D-26FE-61DF-7772-CB3ECFA0C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546158"/>
            <a:ext cx="2785376" cy="145985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A4EF968-70EC-CE9B-A3C9-ECED69AA746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149029" y="546158"/>
            <a:ext cx="7580375" cy="5471870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tx1"/>
                </a:solidFill>
              </a:defRPr>
            </a:lvl2pPr>
            <a:lvl3pPr>
              <a:defRPr sz="2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1E1ED2E-4CC4-214D-9993-9013E29211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1480" y="2412002"/>
            <a:ext cx="2785376" cy="3606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FEEE2A-25A2-2FA1-A41A-D1C2422D395D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75142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Blank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FBBD68-BD95-F135-7109-7B41096B9586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BB508E7-9B16-5052-F063-DA79D610CB7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8394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Blank 2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890CE7-6ECC-B4F6-232C-6BA20FABB57F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DD511CD-7DC6-0F72-CFB5-B4556B9E0E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6320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- Title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1F3074-BEA2-EE52-460B-5F5178689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8C9EE-F400-0176-B1C5-BC876AFE813C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B700703-C576-1C08-BC38-F6B57956E7C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0232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- Title and Subtitle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1F3074-BEA2-EE52-460B-5F5178689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8C9EE-F400-0176-B1C5-BC876AFE813C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B700703-C576-1C08-BC38-F6B57956E7C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010E0084-B135-B819-B0FD-96FA1C0439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476" y="1110417"/>
            <a:ext cx="11393424" cy="40011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subtitle text</a:t>
            </a:r>
          </a:p>
        </p:txBody>
      </p:sp>
    </p:spTree>
    <p:extLst>
      <p:ext uri="{BB962C8B-B14F-4D97-AF65-F5344CB8AC3E}">
        <p14:creationId xmlns:p14="http://schemas.microsoft.com/office/powerpoint/2010/main" val="18722734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 - Dark Background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BD031AE-F9EE-B26B-DF62-AC83877097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6930" y="1197580"/>
            <a:ext cx="6578139" cy="2655228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sz="20000" b="1">
                <a:gradFill>
                  <a:gsLst>
                    <a:gs pos="0">
                      <a:schemeClr val="accent4"/>
                    </a:gs>
                    <a:gs pos="100000">
                      <a:schemeClr val="accent6"/>
                    </a:gs>
                  </a:gsLst>
                  <a:lin ang="18900000" scaled="0"/>
                </a:gradFill>
                <a:effectLst>
                  <a:outerShdw blurRad="50800" dist="38100" dir="5400000" algn="t" rotWithShape="0">
                    <a:schemeClr val="accent1">
                      <a:alpha val="40000"/>
                    </a:schemeClr>
                  </a:outerShdw>
                </a:effectLst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F45335C-AE0B-F61D-E455-CF6343448E2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20453" y="4086985"/>
            <a:ext cx="8351094" cy="1406503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stat label text styles</a:t>
            </a:r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FF71895F-ABB1-8CB9-DCB5-F7D1AC2E4DCF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B373FA78-496A-CD0C-020D-F127DD13F4D9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DD53D5-8421-6ED2-F229-C869EDCF5D36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2063B13-C6EB-1EE0-E63A-322D0015011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9330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 - Light Background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BD031AE-F9EE-B26B-DF62-AC83877097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6930" y="1197580"/>
            <a:ext cx="6578139" cy="2655228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sz="20000" b="1">
                <a:solidFill>
                  <a:schemeClr val="accent1"/>
                </a:solidFill>
                <a:effectLst/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F45335C-AE0B-F61D-E455-CF6343448E2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20453" y="4086985"/>
            <a:ext cx="8351094" cy="1406503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stat label text styles</a:t>
            </a:r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F8EEDF0D-5C63-AB77-9DED-F558AD4F04FA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76B60B42-F59A-2CF5-2782-81E66202645B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CB01C-4F2C-A30B-B16D-E326D01CA01A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FF635D5-9C52-1A46-D0A8-6D771F4458F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763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1D681-6055-30FA-20EC-50E5F79DC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709738"/>
            <a:ext cx="10972800" cy="261518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6600">
                <a:solidFill>
                  <a:schemeClr val="bg1"/>
                </a:solidFill>
                <a:latin typeface="+mj-lt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6284C8-BD6A-7509-955F-4399117E5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4496560"/>
            <a:ext cx="10972800" cy="113160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1075ED4C-0ED7-0FDF-6ED5-E087ADBA28B3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C1E491A7-C238-E132-C32C-00436FC160E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021F2B-E387-D8F0-376D-46C843E96AB0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9EEE872-1314-BA1E-58EE-4C14CC16BD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496" y="5998612"/>
            <a:ext cx="1280160" cy="374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8157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- Light Background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1D681-6055-30FA-20EC-50E5F79DC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709739"/>
            <a:ext cx="10972800" cy="2613025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6600">
                <a:solidFill>
                  <a:schemeClr val="accent1"/>
                </a:solidFill>
                <a:latin typeface="+mj-lt"/>
                <a:ea typeface="Roboto Condensed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6284C8-BD6A-7509-955F-4399117E5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4496560"/>
            <a:ext cx="10972800" cy="113160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CF35F9A8-21D4-C26D-9E3E-C6B60E2AE29A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2A70E3AF-3D96-49A0-F0F3-997A0F8F64A2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342652-8EA4-70C8-908A-379CA2C59AA0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4590FA3-C50A-D55A-047D-3AD9AC7D917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496" y="5998612"/>
            <a:ext cx="1280160" cy="374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7132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Title Slide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6EB06365-02F7-2AF1-8AE4-800356864B3F}"/>
              </a:ext>
            </a:extLst>
          </p:cNvPr>
          <p:cNvSpPr txBox="1"/>
          <p:nvPr userDrawn="1"/>
        </p:nvSpPr>
        <p:spPr>
          <a:xfrm>
            <a:off x="3590259" y="5438625"/>
            <a:ext cx="50114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www.digicert.com</a:t>
            </a:r>
            <a:endParaRPr lang="en-US" sz="240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2CB8DC65-DB28-4300-7D9E-565EBB342B51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578EA667-6051-5CE6-8DF2-8DDC604DEA62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28E034-2102-0266-2242-CD92CBF9B131}"/>
              </a:ext>
            </a:extLst>
          </p:cNvPr>
          <p:cNvSpPr txBox="1"/>
          <p:nvPr userDrawn="1"/>
        </p:nvSpPr>
        <p:spPr>
          <a:xfrm>
            <a:off x="3473958" y="6080760"/>
            <a:ext cx="52440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>
                <a:solidFill>
                  <a:schemeClr val="bg1">
                    <a:alpha val="50000"/>
                  </a:schemeClr>
                </a:solidFill>
              </a:rPr>
              <a:t>Copyright ©2025 DigiCert, Inc. All rights reserved.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ECF184A-A6B7-0460-5685-1137965201E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800" y="2492298"/>
            <a:ext cx="5486400" cy="160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40621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BD6E7-93C0-80D4-FE7D-A178A1D2C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2291557"/>
            <a:ext cx="10972800" cy="1909763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6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1219AD-2E2E-C812-DB43-4251C2D4EE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4345172"/>
            <a:ext cx="10972800" cy="912628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6" name="Picture 15" descr="A black and white logo  Description automatically generated">
            <a:extLst>
              <a:ext uri="{FF2B5EF4-FFF2-40B4-BE49-F238E27FC236}">
                <a16:creationId xmlns:a16="http://schemas.microsoft.com/office/drawing/2014/main" id="{F5F8B216-E1C5-9380-4B3B-CE2C42587E0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742157"/>
            <a:ext cx="2286000" cy="666750"/>
          </a:xfrm>
          <a:prstGeom prst="rect">
            <a:avLst/>
          </a:prstGeom>
        </p:spPr>
      </p:pic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5AA370CC-454D-2D54-69B7-66E89DE0ACC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6828A8E1-88D1-5C1F-686A-DDA31EDE181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E27C02-BB80-1246-8099-C691490F1569}"/>
              </a:ext>
            </a:extLst>
          </p:cNvPr>
          <p:cNvSpPr txBox="1"/>
          <p:nvPr userDrawn="1"/>
        </p:nvSpPr>
        <p:spPr>
          <a:xfrm>
            <a:off x="548640" y="6321399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47331287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22203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/ Design Elements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8CE1FAE1-30B2-C97F-EB59-122B5F2E548C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EF404861-950E-7EA6-378B-A929CD310130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F4D7D1-DD60-636F-57C8-510367FEA744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44A0963-3376-B4DE-9040-0A3F29B6D4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C49374-C8FB-CD58-80F6-D090D61685E3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69031307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E1435C5-D062-7E0C-5083-326E5925A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DC0F86FE-ED8A-B786-C577-159BB0EFAA24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E80978B6-7CF2-2036-E747-3965FC12538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9A965D-9F58-4E9C-327A-5A18BE5E37D7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BE20A49-64C4-9FEA-3BDB-A7A0F11622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C96EC9-BF3A-E6E6-3507-E49EB8305271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85626004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E1435C5-D062-7E0C-5083-326E5925A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DC0F86FE-ED8A-B786-C577-159BB0EFAA24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E80978B6-7CF2-2036-E747-3965FC12538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9A965D-9F58-4E9C-327A-5A18BE5E37D7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BE20A49-64C4-9FEA-3BDB-A7A0F11622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C96EC9-BF3A-E6E6-3507-E49EB8305271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INTERNAL</a:t>
            </a:r>
          </a:p>
        </p:txBody>
      </p:sp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725ECACD-D652-5137-0EEC-88B927D579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476" y="1110417"/>
            <a:ext cx="11393424" cy="40011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subtitle text</a:t>
            </a:r>
          </a:p>
        </p:txBody>
      </p:sp>
    </p:spTree>
    <p:extLst>
      <p:ext uri="{BB962C8B-B14F-4D97-AF65-F5344CB8AC3E}">
        <p14:creationId xmlns:p14="http://schemas.microsoft.com/office/powerpoint/2010/main" val="14316366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606E8-4FC5-5BAE-010D-304198E03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79" y="1378626"/>
            <a:ext cx="11384279" cy="47708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2FAA564-2E2C-C1B3-DA26-E3A548CF8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1FE76A11-8345-A230-D648-95FDFC953103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B6C4310E-3FD9-3B97-261B-6E679046BFA9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EDA5FA-9C5D-1D4F-9F9D-62C0317F458B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CF62BAB-EC17-1AD0-790C-57F6264D32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87FB36A-DBCD-A111-B307-F089695B3FD6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310784497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Text Containers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3251BB-74BB-A052-D3B1-6592DC86FE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42158" y="1657355"/>
            <a:ext cx="4825042" cy="4229095"/>
          </a:xfrm>
        </p:spPr>
        <p:txBody>
          <a:bodyPr lIns="0" rIns="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A4E1FA2-324F-89B0-EF45-205E0C3742DB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624802" y="1657355"/>
            <a:ext cx="4825042" cy="4229095"/>
          </a:xfrm>
        </p:spPr>
        <p:txBody>
          <a:bodyPr lIns="0" rIns="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533017B-914A-5BA6-88E9-26A924F57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E6B3276-E3BC-F438-B494-F3D0803BFEFB}"/>
              </a:ext>
            </a:extLst>
          </p:cNvPr>
          <p:cNvSpPr/>
          <p:nvPr userDrawn="1"/>
        </p:nvSpPr>
        <p:spPr>
          <a:xfrm>
            <a:off x="411478" y="1378626"/>
            <a:ext cx="548640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A23937B-15C1-215F-B833-E061723080B4}"/>
              </a:ext>
            </a:extLst>
          </p:cNvPr>
          <p:cNvSpPr/>
          <p:nvPr userDrawn="1"/>
        </p:nvSpPr>
        <p:spPr>
          <a:xfrm>
            <a:off x="6228558" y="1378626"/>
            <a:ext cx="548640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579D148E-4FA6-6C2F-4283-06E139F1C9B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1EC51F8D-561D-9881-2B33-8E87E12E5F8A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55F9D8-4BF1-0FBE-8224-76D03F28435A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08753D83-229A-6B35-CBE7-0E76E64B22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A390571-D5A5-28AE-3D83-27689258E3FF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46391560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hree Text Containers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E02D17F-FC52-34EC-63C3-79BE6A9E52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6093" y="1633700"/>
            <a:ext cx="2909976" cy="4301402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D3ED73E-BE08-FC54-74C8-D13CECC33782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641012" y="1633699"/>
            <a:ext cx="2909976" cy="4301402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62DBD1F-CC2F-5B7F-D47E-4B584694791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590354" y="1633699"/>
            <a:ext cx="2909976" cy="4301402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5220D60-1E94-FD5E-DCA6-36C5C4EB1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9E2A872-3419-7DF3-DABE-0AC08B0AE1BE}"/>
              </a:ext>
            </a:extLst>
          </p:cNvPr>
          <p:cNvSpPr/>
          <p:nvPr userDrawn="1"/>
        </p:nvSpPr>
        <p:spPr>
          <a:xfrm>
            <a:off x="4358640" y="1378626"/>
            <a:ext cx="347472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BDCAD2B-AD13-3EC2-C485-8B10D7E6FAFD}"/>
              </a:ext>
            </a:extLst>
          </p:cNvPr>
          <p:cNvSpPr/>
          <p:nvPr userDrawn="1"/>
        </p:nvSpPr>
        <p:spPr>
          <a:xfrm>
            <a:off x="8305801" y="1378626"/>
            <a:ext cx="347472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528000E-334F-5072-9CBF-EF7C13062BAC}"/>
              </a:ext>
            </a:extLst>
          </p:cNvPr>
          <p:cNvSpPr/>
          <p:nvPr userDrawn="1"/>
        </p:nvSpPr>
        <p:spPr>
          <a:xfrm>
            <a:off x="411479" y="1378626"/>
            <a:ext cx="347472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CD9BE346-D228-1FBD-C3F7-3F908A68061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827A963F-5E25-3D33-C815-651A06BA199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F0286-677A-1090-10FC-B9DC8A1623DD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C8F7D25-B34E-8315-7FDE-6217F2BA17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AECB49-A6B9-BB42-ECBF-53F9B56D606B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36362373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our Text Containers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8F7C774-3912-EA6A-0164-5460BC130D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237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5165D76-AF54-B141-E08F-D3D6A2FED960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620334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481AD61-7F55-BBD7-F80A-7C9460E50734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547431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7A9AF011-F62D-DD04-FA3E-FA997B8210EF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474527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C4EDE80C-83DC-EFF7-1D0A-62B13EC36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61DF9D1-DAD3-8617-D015-E0063E38049E}"/>
              </a:ext>
            </a:extLst>
          </p:cNvPr>
          <p:cNvSpPr/>
          <p:nvPr userDrawn="1"/>
        </p:nvSpPr>
        <p:spPr>
          <a:xfrm>
            <a:off x="404751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8A7517D-84EA-6899-3A17-D1F43D17EA34}"/>
              </a:ext>
            </a:extLst>
          </p:cNvPr>
          <p:cNvSpPr/>
          <p:nvPr userDrawn="1"/>
        </p:nvSpPr>
        <p:spPr>
          <a:xfrm>
            <a:off x="3331847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E723438-5145-9F19-2E26-518E84A66551}"/>
              </a:ext>
            </a:extLst>
          </p:cNvPr>
          <p:cNvSpPr/>
          <p:nvPr userDrawn="1"/>
        </p:nvSpPr>
        <p:spPr>
          <a:xfrm>
            <a:off x="6258943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050050D-992B-252D-0568-025F32DEE53C}"/>
              </a:ext>
            </a:extLst>
          </p:cNvPr>
          <p:cNvSpPr/>
          <p:nvPr userDrawn="1"/>
        </p:nvSpPr>
        <p:spPr>
          <a:xfrm>
            <a:off x="9192769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38BAE8F1-7A97-7A26-51BB-BBCDC03ED17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A4FFF755-18A4-91FD-8C95-145669BE3A82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E30C54-4E56-804C-207E-4163ECE41B50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0200498-E79B-6C9F-EFDF-9498DA2756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2C8492-5971-A3F4-B5FB-08A912690BC0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40157601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debar Blank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0191EF-DD4B-7425-BE0C-15D6619D6F36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4" name="Picture 3" descr="A blue and white background  AI-generated content may be incorrect.">
            <a:extLst>
              <a:ext uri="{FF2B5EF4-FFF2-40B4-BE49-F238E27FC236}">
                <a16:creationId xmlns:a16="http://schemas.microsoft.com/office/drawing/2014/main" id="{3CFA1267-2FA0-F577-A99A-9C2295FFD7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125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A094774-5B42-AB2E-C99E-CA928AA11688}"/>
              </a:ext>
            </a:extLst>
          </p:cNvPr>
          <p:cNvSpPr txBox="1"/>
          <p:nvPr userDrawn="1"/>
        </p:nvSpPr>
        <p:spPr>
          <a:xfrm>
            <a:off x="411479" y="6321399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33246810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with Content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background  AI-generated content may be incorrect.">
            <a:extLst>
              <a:ext uri="{FF2B5EF4-FFF2-40B4-BE49-F238E27FC236}">
                <a16:creationId xmlns:a16="http://schemas.microsoft.com/office/drawing/2014/main" id="{70E43184-27D9-16D0-7DB2-9B95D3A3F2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12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B201D-26FE-61DF-7772-CB3ECFA0C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546158"/>
            <a:ext cx="2785376" cy="145985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A4EF968-70EC-CE9B-A3C9-ECED69AA746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149029" y="546158"/>
            <a:ext cx="7580375" cy="5471870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tx1"/>
                </a:solidFill>
              </a:defRPr>
            </a:lvl2pPr>
            <a:lvl3pPr>
              <a:defRPr sz="2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1E1ED2E-4CC4-214D-9993-9013E29211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1480" y="2412002"/>
            <a:ext cx="2785376" cy="3606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FEEE2A-25A2-2FA1-A41A-D1C2422D395D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57D8FD-EF53-BF85-8DFB-A8638F395D59}"/>
              </a:ext>
            </a:extLst>
          </p:cNvPr>
          <p:cNvSpPr txBox="1"/>
          <p:nvPr userDrawn="1"/>
        </p:nvSpPr>
        <p:spPr>
          <a:xfrm>
            <a:off x="411479" y="6321399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344206156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Blank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FBBD68-BD95-F135-7109-7B41096B9586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BB508E7-9B16-5052-F063-DA79D610CB7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EA7E40C-AC41-76C6-A75D-35DE50430CB0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99981114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Blank 2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890CE7-6ECC-B4F6-232C-6BA20FABB57F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DD511CD-7DC6-0F72-CFB5-B4556B9E0E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C0A0BD-20A3-A3A3-EE98-34E54610A157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41363623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- Title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1F3074-BEA2-EE52-460B-5F5178689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8C9EE-F400-0176-B1C5-BC876AFE813C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B700703-C576-1C08-BC38-F6B57956E7C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248D64-7098-4566-4702-2FF3E96FE310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15184820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- Title and Subtitle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1F3074-BEA2-EE52-460B-5F5178689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8C9EE-F400-0176-B1C5-BC876AFE813C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B700703-C576-1C08-BC38-F6B57956E7C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248D64-7098-4566-4702-2FF3E96FE310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INTERNAL</a:t>
            </a:r>
          </a:p>
        </p:txBody>
      </p:sp>
      <p:sp>
        <p:nvSpPr>
          <p:cNvPr id="10" name="Text Placeholder 13">
            <a:extLst>
              <a:ext uri="{FF2B5EF4-FFF2-40B4-BE49-F238E27FC236}">
                <a16:creationId xmlns:a16="http://schemas.microsoft.com/office/drawing/2014/main" id="{9C114231-ED4E-2591-DE6D-998962272E5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476" y="1110417"/>
            <a:ext cx="11393424" cy="40011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subtitle text</a:t>
            </a:r>
          </a:p>
        </p:txBody>
      </p:sp>
    </p:spTree>
    <p:extLst>
      <p:ext uri="{BB962C8B-B14F-4D97-AF65-F5344CB8AC3E}">
        <p14:creationId xmlns:p14="http://schemas.microsoft.com/office/powerpoint/2010/main" val="241869122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 - Dark Background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BD031AE-F9EE-B26B-DF62-AC83877097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6930" y="1197580"/>
            <a:ext cx="6578139" cy="2655228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sz="20000" b="1">
                <a:gradFill>
                  <a:gsLst>
                    <a:gs pos="0">
                      <a:schemeClr val="accent4"/>
                    </a:gs>
                    <a:gs pos="100000">
                      <a:schemeClr val="accent6"/>
                    </a:gs>
                  </a:gsLst>
                  <a:lin ang="18900000" scaled="0"/>
                </a:gradFill>
                <a:effectLst>
                  <a:outerShdw blurRad="50800" dist="38100" dir="5400000" algn="t" rotWithShape="0">
                    <a:schemeClr val="accent1">
                      <a:alpha val="40000"/>
                    </a:schemeClr>
                  </a:outerShdw>
                </a:effectLst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F45335C-AE0B-F61D-E455-CF6343448E2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20453" y="4086985"/>
            <a:ext cx="8351094" cy="1406503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stat label text styles</a:t>
            </a:r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FF71895F-ABB1-8CB9-DCB5-F7D1AC2E4DCF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B373FA78-496A-CD0C-020D-F127DD13F4D9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DD53D5-8421-6ED2-F229-C869EDCF5D36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2063B13-C6EB-1EE0-E63A-322D0015011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C76985D-36A0-5473-7740-219C0282ECAE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4735303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 - Light Background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BD031AE-F9EE-B26B-DF62-AC83877097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6930" y="1197580"/>
            <a:ext cx="6578139" cy="2655228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sz="20000" b="1">
                <a:solidFill>
                  <a:schemeClr val="accent1"/>
                </a:solidFill>
                <a:effectLst/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F45335C-AE0B-F61D-E455-CF6343448E2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20453" y="4086985"/>
            <a:ext cx="8351094" cy="1406503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stat label text styles</a:t>
            </a:r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F8EEDF0D-5C63-AB77-9DED-F558AD4F04FA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76B60B42-F59A-2CF5-2782-81E66202645B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CB01C-4F2C-A30B-B16D-E326D01CA01A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FF635D5-9C52-1A46-D0A8-6D771F4458F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511590-3888-0B96-1C62-31FA1493C210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00500503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1D681-6055-30FA-20EC-50E5F79DC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709738"/>
            <a:ext cx="10972800" cy="261518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6600">
                <a:solidFill>
                  <a:schemeClr val="bg1"/>
                </a:solidFill>
                <a:latin typeface="+mj-lt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6284C8-BD6A-7509-955F-4399117E5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4496560"/>
            <a:ext cx="10972800" cy="113160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1075ED4C-0ED7-0FDF-6ED5-E087ADBA28B3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C1E491A7-C238-E132-C32C-00436FC160E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021F2B-E387-D8F0-376D-46C843E96AB0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9EEE872-1314-BA1E-58EE-4C14CC16BD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496" y="5998612"/>
            <a:ext cx="1280160" cy="3746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FA401D7-74B8-189F-AAD0-7EAC1F6CFDC6}"/>
              </a:ext>
            </a:extLst>
          </p:cNvPr>
          <p:cNvSpPr txBox="1"/>
          <p:nvPr userDrawn="1"/>
        </p:nvSpPr>
        <p:spPr>
          <a:xfrm>
            <a:off x="958653" y="6321399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45694845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- Light Background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1D681-6055-30FA-20EC-50E5F79DC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709739"/>
            <a:ext cx="10972800" cy="2613025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6600">
                <a:solidFill>
                  <a:schemeClr val="accent1"/>
                </a:solidFill>
                <a:latin typeface="+mj-lt"/>
                <a:ea typeface="Roboto Condensed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6284C8-BD6A-7509-955F-4399117E5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4496560"/>
            <a:ext cx="10972800" cy="113160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CF35F9A8-21D4-C26D-9E3E-C6B60E2AE29A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2A70E3AF-3D96-49A0-F0F3-997A0F8F64A2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342652-8EA4-70C8-908A-379CA2C59AA0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4590FA3-C50A-D55A-047D-3AD9AC7D917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496" y="5998612"/>
            <a:ext cx="1280160" cy="3746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2605CD-21AF-22EA-228C-E5B8F6225E6B}"/>
              </a:ext>
            </a:extLst>
          </p:cNvPr>
          <p:cNvSpPr txBox="1"/>
          <p:nvPr userDrawn="1"/>
        </p:nvSpPr>
        <p:spPr>
          <a:xfrm>
            <a:off x="958653" y="6321399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90058437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Title Slide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6EB06365-02F7-2AF1-8AE4-800356864B3F}"/>
              </a:ext>
            </a:extLst>
          </p:cNvPr>
          <p:cNvSpPr txBox="1"/>
          <p:nvPr userDrawn="1"/>
        </p:nvSpPr>
        <p:spPr>
          <a:xfrm>
            <a:off x="3590259" y="5438625"/>
            <a:ext cx="50114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www.digicert.com</a:t>
            </a:r>
            <a:endParaRPr lang="en-US" sz="240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2CB8DC65-DB28-4300-7D9E-565EBB342B51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578EA667-6051-5CE6-8DF2-8DDC604DEA62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28E034-2102-0266-2242-CD92CBF9B131}"/>
              </a:ext>
            </a:extLst>
          </p:cNvPr>
          <p:cNvSpPr txBox="1"/>
          <p:nvPr userDrawn="1"/>
        </p:nvSpPr>
        <p:spPr>
          <a:xfrm>
            <a:off x="3473958" y="6080760"/>
            <a:ext cx="52440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>
                <a:solidFill>
                  <a:schemeClr val="bg1">
                    <a:alpha val="50000"/>
                  </a:schemeClr>
                </a:solidFill>
              </a:rPr>
              <a:t>Copyright ©2025 DigiCert, Inc. All rights reserved.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ECF184A-A6B7-0460-5685-1137965201E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800" y="2492298"/>
            <a:ext cx="5486400" cy="160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2213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BD6E7-93C0-80D4-FE7D-A178A1D2C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2291557"/>
            <a:ext cx="10972800" cy="1909763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6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1219AD-2E2E-C812-DB43-4251C2D4EE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4345172"/>
            <a:ext cx="10972800" cy="912628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6" name="Picture 15" descr="A black and white logo  Description automatically generated">
            <a:extLst>
              <a:ext uri="{FF2B5EF4-FFF2-40B4-BE49-F238E27FC236}">
                <a16:creationId xmlns:a16="http://schemas.microsoft.com/office/drawing/2014/main" id="{F5F8B216-E1C5-9380-4B3B-CE2C42587E0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742157"/>
            <a:ext cx="2286000" cy="666750"/>
          </a:xfrm>
          <a:prstGeom prst="rect">
            <a:avLst/>
          </a:prstGeom>
        </p:spPr>
      </p:pic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5AA370CC-454D-2D54-69B7-66E89DE0ACC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6828A8E1-88D1-5C1F-686A-DDA31EDE181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E27C02-BB80-1246-8099-C691490F1569}"/>
              </a:ext>
            </a:extLst>
          </p:cNvPr>
          <p:cNvSpPr txBox="1"/>
          <p:nvPr userDrawn="1"/>
        </p:nvSpPr>
        <p:spPr>
          <a:xfrm>
            <a:off x="548640" y="6321399"/>
            <a:ext cx="11533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63383409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657861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/ Design Elements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8CE1FAE1-30B2-C97F-EB59-122B5F2E548C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EF404861-950E-7EA6-378B-A929CD310130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F4D7D1-DD60-636F-57C8-510367FEA744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44A0963-3376-B4DE-9040-0A3F29B6D4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C49374-C8FB-CD58-80F6-D090D61685E3}"/>
              </a:ext>
            </a:extLst>
          </p:cNvPr>
          <p:cNvSpPr txBox="1"/>
          <p:nvPr userDrawn="1"/>
        </p:nvSpPr>
        <p:spPr>
          <a:xfrm>
            <a:off x="1455031" y="6464808"/>
            <a:ext cx="11413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26311913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E1435C5-D062-7E0C-5083-326E5925A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DC0F86FE-ED8A-B786-C577-159BB0EFAA24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E80978B6-7CF2-2036-E747-3965FC12538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9A965D-9F58-4E9C-327A-5A18BE5E37D7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BE20A49-64C4-9FEA-3BDB-A7A0F11622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2FB723-0DCC-7666-29AB-824C1D0B33A4}"/>
              </a:ext>
            </a:extLst>
          </p:cNvPr>
          <p:cNvSpPr txBox="1"/>
          <p:nvPr userDrawn="1"/>
        </p:nvSpPr>
        <p:spPr>
          <a:xfrm>
            <a:off x="1455031" y="6464808"/>
            <a:ext cx="11413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61575403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E1435C5-D062-7E0C-5083-326E5925A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DC0F86FE-ED8A-B786-C577-159BB0EFAA24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E80978B6-7CF2-2036-E747-3965FC12538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9A965D-9F58-4E9C-327A-5A18BE5E37D7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BE20A49-64C4-9FEA-3BDB-A7A0F11622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2FB723-0DCC-7666-29AB-824C1D0B33A4}"/>
              </a:ext>
            </a:extLst>
          </p:cNvPr>
          <p:cNvSpPr txBox="1"/>
          <p:nvPr userDrawn="1"/>
        </p:nvSpPr>
        <p:spPr>
          <a:xfrm>
            <a:off x="1455031" y="6464808"/>
            <a:ext cx="11413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CONFIDENTIAL</a:t>
            </a:r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59BA83DF-EE24-F131-49DF-9247951B8B7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476" y="1110417"/>
            <a:ext cx="11393424" cy="40011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subtitle text</a:t>
            </a:r>
          </a:p>
        </p:txBody>
      </p:sp>
    </p:spTree>
    <p:extLst>
      <p:ext uri="{BB962C8B-B14F-4D97-AF65-F5344CB8AC3E}">
        <p14:creationId xmlns:p14="http://schemas.microsoft.com/office/powerpoint/2010/main" val="295309614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606E8-4FC5-5BAE-010D-304198E03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79" y="1378626"/>
            <a:ext cx="11384279" cy="47708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2FAA564-2E2C-C1B3-DA26-E3A548CF8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1FE76A11-8345-A230-D648-95FDFC953103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B6C4310E-3FD9-3B97-261B-6E679046BFA9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EDA5FA-9C5D-1D4F-9F9D-62C0317F458B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CF62BAB-EC17-1AD0-790C-57F6264D32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3CD68C-2BC8-6899-7987-D326D7D09C83}"/>
              </a:ext>
            </a:extLst>
          </p:cNvPr>
          <p:cNvSpPr txBox="1"/>
          <p:nvPr userDrawn="1"/>
        </p:nvSpPr>
        <p:spPr>
          <a:xfrm>
            <a:off x="1455031" y="6464808"/>
            <a:ext cx="11413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0544597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Text Containers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3251BB-74BB-A052-D3B1-6592DC86FE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42158" y="1657355"/>
            <a:ext cx="4825042" cy="4229095"/>
          </a:xfrm>
        </p:spPr>
        <p:txBody>
          <a:bodyPr lIns="0" rIns="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A4E1FA2-324F-89B0-EF45-205E0C3742DB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624802" y="1657355"/>
            <a:ext cx="4825042" cy="4229095"/>
          </a:xfrm>
        </p:spPr>
        <p:txBody>
          <a:bodyPr lIns="0" rIns="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533017B-914A-5BA6-88E9-26A924F57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E6B3276-E3BC-F438-B494-F3D0803BFEFB}"/>
              </a:ext>
            </a:extLst>
          </p:cNvPr>
          <p:cNvSpPr/>
          <p:nvPr userDrawn="1"/>
        </p:nvSpPr>
        <p:spPr>
          <a:xfrm>
            <a:off x="411478" y="1378626"/>
            <a:ext cx="548640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A23937B-15C1-215F-B833-E061723080B4}"/>
              </a:ext>
            </a:extLst>
          </p:cNvPr>
          <p:cNvSpPr/>
          <p:nvPr userDrawn="1"/>
        </p:nvSpPr>
        <p:spPr>
          <a:xfrm>
            <a:off x="6228558" y="1378626"/>
            <a:ext cx="548640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579D148E-4FA6-6C2F-4283-06E139F1C9B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1EC51F8D-561D-9881-2B33-8E87E12E5F8A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55F9D8-4BF1-0FBE-8224-76D03F28435A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08753D83-229A-6B35-CBE7-0E76E64B22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5C1174E-5B7D-C208-9FF0-9610E9E3D92D}"/>
              </a:ext>
            </a:extLst>
          </p:cNvPr>
          <p:cNvSpPr txBox="1"/>
          <p:nvPr userDrawn="1"/>
        </p:nvSpPr>
        <p:spPr>
          <a:xfrm>
            <a:off x="1455031" y="6464808"/>
            <a:ext cx="11413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77962640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hree Text Containers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E02D17F-FC52-34EC-63C3-79BE6A9E52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6093" y="1633700"/>
            <a:ext cx="2909976" cy="4301402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D3ED73E-BE08-FC54-74C8-D13CECC33782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641012" y="1633699"/>
            <a:ext cx="2909976" cy="4301402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62DBD1F-CC2F-5B7F-D47E-4B584694791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590354" y="1633699"/>
            <a:ext cx="2909976" cy="4301402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5220D60-1E94-FD5E-DCA6-36C5C4EB1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9E2A872-3419-7DF3-DABE-0AC08B0AE1BE}"/>
              </a:ext>
            </a:extLst>
          </p:cNvPr>
          <p:cNvSpPr/>
          <p:nvPr userDrawn="1"/>
        </p:nvSpPr>
        <p:spPr>
          <a:xfrm>
            <a:off x="4358640" y="1378626"/>
            <a:ext cx="347472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BDCAD2B-AD13-3EC2-C485-8B10D7E6FAFD}"/>
              </a:ext>
            </a:extLst>
          </p:cNvPr>
          <p:cNvSpPr/>
          <p:nvPr userDrawn="1"/>
        </p:nvSpPr>
        <p:spPr>
          <a:xfrm>
            <a:off x="8305801" y="1378626"/>
            <a:ext cx="347472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528000E-334F-5072-9CBF-EF7C13062BAC}"/>
              </a:ext>
            </a:extLst>
          </p:cNvPr>
          <p:cNvSpPr/>
          <p:nvPr userDrawn="1"/>
        </p:nvSpPr>
        <p:spPr>
          <a:xfrm>
            <a:off x="411479" y="1378626"/>
            <a:ext cx="347472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CD9BE346-D228-1FBD-C3F7-3F908A68061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827A963F-5E25-3D33-C815-651A06BA199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F0286-677A-1090-10FC-B9DC8A1623DD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C8F7D25-B34E-8315-7FDE-6217F2BA17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171DA67-524E-BCAD-E9E4-6C7F38A88106}"/>
              </a:ext>
            </a:extLst>
          </p:cNvPr>
          <p:cNvSpPr txBox="1"/>
          <p:nvPr userDrawn="1"/>
        </p:nvSpPr>
        <p:spPr>
          <a:xfrm>
            <a:off x="1455031" y="6464808"/>
            <a:ext cx="11413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3992632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our Text Containers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8F7C774-3912-EA6A-0164-5460BC130D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237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5165D76-AF54-B141-E08F-D3D6A2FED960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620334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481AD61-7F55-BBD7-F80A-7C9460E50734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547431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7A9AF011-F62D-DD04-FA3E-FA997B8210EF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474527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C4EDE80C-83DC-EFF7-1D0A-62B13EC36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61DF9D1-DAD3-8617-D015-E0063E38049E}"/>
              </a:ext>
            </a:extLst>
          </p:cNvPr>
          <p:cNvSpPr/>
          <p:nvPr userDrawn="1"/>
        </p:nvSpPr>
        <p:spPr>
          <a:xfrm>
            <a:off x="404751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8A7517D-84EA-6899-3A17-D1F43D17EA34}"/>
              </a:ext>
            </a:extLst>
          </p:cNvPr>
          <p:cNvSpPr/>
          <p:nvPr userDrawn="1"/>
        </p:nvSpPr>
        <p:spPr>
          <a:xfrm>
            <a:off x="3331847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E723438-5145-9F19-2E26-518E84A66551}"/>
              </a:ext>
            </a:extLst>
          </p:cNvPr>
          <p:cNvSpPr/>
          <p:nvPr userDrawn="1"/>
        </p:nvSpPr>
        <p:spPr>
          <a:xfrm>
            <a:off x="6258943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050050D-992B-252D-0568-025F32DEE53C}"/>
              </a:ext>
            </a:extLst>
          </p:cNvPr>
          <p:cNvSpPr/>
          <p:nvPr userDrawn="1"/>
        </p:nvSpPr>
        <p:spPr>
          <a:xfrm>
            <a:off x="9192769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38BAE8F1-7A97-7A26-51BB-BBCDC03ED17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A4FFF755-18A4-91FD-8C95-145669BE3A82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E30C54-4E56-804C-207E-4163ECE41B50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0200498-E79B-6C9F-EFDF-9498DA2756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A1E8344-6DBC-E8AA-E652-635B3CA544DB}"/>
              </a:ext>
            </a:extLst>
          </p:cNvPr>
          <p:cNvSpPr txBox="1"/>
          <p:nvPr userDrawn="1"/>
        </p:nvSpPr>
        <p:spPr>
          <a:xfrm>
            <a:off x="1455031" y="6464808"/>
            <a:ext cx="11413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4940264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debar Blank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0191EF-DD4B-7425-BE0C-15D6619D6F36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4" name="Picture 3" descr="A blue and white background  AI-generated content may be incorrect.">
            <a:extLst>
              <a:ext uri="{FF2B5EF4-FFF2-40B4-BE49-F238E27FC236}">
                <a16:creationId xmlns:a16="http://schemas.microsoft.com/office/drawing/2014/main" id="{3CFA1267-2FA0-F577-A99A-9C2295FFD7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125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A094774-5B42-AB2E-C99E-CA928AA11688}"/>
              </a:ext>
            </a:extLst>
          </p:cNvPr>
          <p:cNvSpPr txBox="1"/>
          <p:nvPr userDrawn="1"/>
        </p:nvSpPr>
        <p:spPr>
          <a:xfrm>
            <a:off x="411479" y="6321399"/>
            <a:ext cx="129050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70548290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with Content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background  AI-generated content may be incorrect.">
            <a:extLst>
              <a:ext uri="{FF2B5EF4-FFF2-40B4-BE49-F238E27FC236}">
                <a16:creationId xmlns:a16="http://schemas.microsoft.com/office/drawing/2014/main" id="{70E43184-27D9-16D0-7DB2-9B95D3A3F2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12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B201D-26FE-61DF-7772-CB3ECFA0C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546158"/>
            <a:ext cx="2785376" cy="145985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A4EF968-70EC-CE9B-A3C9-ECED69AA746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149029" y="546158"/>
            <a:ext cx="7580375" cy="5471870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tx1"/>
                </a:solidFill>
              </a:defRPr>
            </a:lvl2pPr>
            <a:lvl3pPr>
              <a:defRPr sz="2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1E1ED2E-4CC4-214D-9993-9013E29211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1480" y="2412002"/>
            <a:ext cx="2785376" cy="3606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FEEE2A-25A2-2FA1-A41A-D1C2422D395D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57D8FD-EF53-BF85-8DFB-A8638F395D59}"/>
              </a:ext>
            </a:extLst>
          </p:cNvPr>
          <p:cNvSpPr txBox="1"/>
          <p:nvPr userDrawn="1"/>
        </p:nvSpPr>
        <p:spPr>
          <a:xfrm>
            <a:off x="411479" y="6321399"/>
            <a:ext cx="12170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1718443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Blank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FBBD68-BD95-F135-7109-7B41096B9586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BB508E7-9B16-5052-F063-DA79D610CB7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EA7E40C-AC41-76C6-A75D-35DE50430CB0}"/>
              </a:ext>
            </a:extLst>
          </p:cNvPr>
          <p:cNvSpPr txBox="1"/>
          <p:nvPr userDrawn="1"/>
        </p:nvSpPr>
        <p:spPr>
          <a:xfrm>
            <a:off x="1455031" y="6464808"/>
            <a:ext cx="13816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4561631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Blank 2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890CE7-6ECC-B4F6-232C-6BA20FABB57F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DD511CD-7DC6-0F72-CFB5-B4556B9E0E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C0A0BD-20A3-A3A3-EE98-34E54610A157}"/>
              </a:ext>
            </a:extLst>
          </p:cNvPr>
          <p:cNvSpPr txBox="1"/>
          <p:nvPr userDrawn="1"/>
        </p:nvSpPr>
        <p:spPr>
          <a:xfrm>
            <a:off x="1455031" y="6464808"/>
            <a:ext cx="131486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10779752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- Title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1F3074-BEA2-EE52-460B-5F5178689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8C9EE-F400-0176-B1C5-BC876AFE813C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B700703-C576-1C08-BC38-F6B57956E7C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248D64-7098-4566-4702-2FF3E96FE310}"/>
              </a:ext>
            </a:extLst>
          </p:cNvPr>
          <p:cNvSpPr txBox="1"/>
          <p:nvPr userDrawn="1"/>
        </p:nvSpPr>
        <p:spPr>
          <a:xfrm>
            <a:off x="1455031" y="6464808"/>
            <a:ext cx="128816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4093733407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- Title and Subtitle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1F3074-BEA2-EE52-460B-5F5178689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8C9EE-F400-0176-B1C5-BC876AFE813C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B700703-C576-1C08-BC38-F6B57956E7C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248D64-7098-4566-4702-2FF3E96FE310}"/>
              </a:ext>
            </a:extLst>
          </p:cNvPr>
          <p:cNvSpPr txBox="1"/>
          <p:nvPr userDrawn="1"/>
        </p:nvSpPr>
        <p:spPr>
          <a:xfrm>
            <a:off x="1455031" y="6464808"/>
            <a:ext cx="128816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CONFIDENTIAL</a:t>
            </a:r>
          </a:p>
        </p:txBody>
      </p: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CFA74DDF-D456-AB7B-4A44-5B552F2651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476" y="1110417"/>
            <a:ext cx="11393424" cy="40011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subtitle text</a:t>
            </a:r>
          </a:p>
        </p:txBody>
      </p:sp>
    </p:spTree>
    <p:extLst>
      <p:ext uri="{BB962C8B-B14F-4D97-AF65-F5344CB8AC3E}">
        <p14:creationId xmlns:p14="http://schemas.microsoft.com/office/powerpoint/2010/main" val="285203636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 - Dark Background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BD031AE-F9EE-B26B-DF62-AC83877097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6930" y="1197580"/>
            <a:ext cx="6578139" cy="2655228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sz="20000" b="1">
                <a:gradFill>
                  <a:gsLst>
                    <a:gs pos="0">
                      <a:schemeClr val="accent4"/>
                    </a:gs>
                    <a:gs pos="100000">
                      <a:schemeClr val="accent6"/>
                    </a:gs>
                  </a:gsLst>
                  <a:lin ang="18900000" scaled="0"/>
                </a:gradFill>
                <a:effectLst>
                  <a:outerShdw blurRad="50800" dist="38100" dir="5400000" algn="t" rotWithShape="0">
                    <a:schemeClr val="accent1">
                      <a:alpha val="40000"/>
                    </a:schemeClr>
                  </a:outerShdw>
                </a:effectLst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F45335C-AE0B-F61D-E455-CF6343448E2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20453" y="4086985"/>
            <a:ext cx="8351094" cy="1406503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stat label text styles</a:t>
            </a:r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FF71895F-ABB1-8CB9-DCB5-F7D1AC2E4DCF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B373FA78-496A-CD0C-020D-F127DD13F4D9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DD53D5-8421-6ED2-F229-C869EDCF5D36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2063B13-C6EB-1EE0-E63A-322D0015011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C76985D-36A0-5473-7740-219C0282ECAE}"/>
              </a:ext>
            </a:extLst>
          </p:cNvPr>
          <p:cNvSpPr txBox="1"/>
          <p:nvPr userDrawn="1"/>
        </p:nvSpPr>
        <p:spPr>
          <a:xfrm>
            <a:off x="1455031" y="6464808"/>
            <a:ext cx="14283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93801982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 - Light Background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BD031AE-F9EE-B26B-DF62-AC83877097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6930" y="1197580"/>
            <a:ext cx="6578139" cy="2655228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sz="20000" b="1">
                <a:solidFill>
                  <a:schemeClr val="accent1"/>
                </a:solidFill>
                <a:effectLst/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F45335C-AE0B-F61D-E455-CF6343448E2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20453" y="4086985"/>
            <a:ext cx="8351094" cy="1406503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stat label text styles</a:t>
            </a:r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F8EEDF0D-5C63-AB77-9DED-F558AD4F04FA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76B60B42-F59A-2CF5-2782-81E66202645B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CB01C-4F2C-A30B-B16D-E326D01CA01A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FF635D5-9C52-1A46-D0A8-6D771F4458F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511590-3888-0B96-1C62-31FA1493C210}"/>
              </a:ext>
            </a:extLst>
          </p:cNvPr>
          <p:cNvSpPr txBox="1"/>
          <p:nvPr userDrawn="1"/>
        </p:nvSpPr>
        <p:spPr>
          <a:xfrm>
            <a:off x="1455031" y="6464808"/>
            <a:ext cx="15484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33061879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1D681-6055-30FA-20EC-50E5F79DC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709738"/>
            <a:ext cx="10972800" cy="261518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6600">
                <a:solidFill>
                  <a:schemeClr val="bg1"/>
                </a:solidFill>
                <a:latin typeface="+mj-lt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6284C8-BD6A-7509-955F-4399117E5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4496560"/>
            <a:ext cx="10972800" cy="113160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1075ED4C-0ED7-0FDF-6ED5-E087ADBA28B3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C1E491A7-C238-E132-C32C-00436FC160E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021F2B-E387-D8F0-376D-46C843E96AB0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9EEE872-1314-BA1E-58EE-4C14CC16BD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496" y="5998612"/>
            <a:ext cx="1280160" cy="3746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FA401D7-74B8-189F-AAD0-7EAC1F6CFDC6}"/>
              </a:ext>
            </a:extLst>
          </p:cNvPr>
          <p:cNvSpPr txBox="1"/>
          <p:nvPr userDrawn="1"/>
        </p:nvSpPr>
        <p:spPr>
          <a:xfrm>
            <a:off x="958653" y="6321399"/>
            <a:ext cx="139075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34411157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- Light Background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1D681-6055-30FA-20EC-50E5F79DC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709739"/>
            <a:ext cx="10972800" cy="2613025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6600">
                <a:solidFill>
                  <a:schemeClr val="accent1"/>
                </a:solidFill>
                <a:latin typeface="+mj-lt"/>
                <a:ea typeface="Roboto Condensed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6284C8-BD6A-7509-955F-4399117E5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4496560"/>
            <a:ext cx="10972800" cy="113160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CF35F9A8-21D4-C26D-9E3E-C6B60E2AE29A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2A70E3AF-3D96-49A0-F0F3-997A0F8F64A2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342652-8EA4-70C8-908A-379CA2C59AA0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4590FA3-C50A-D55A-047D-3AD9AC7D917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496" y="5998612"/>
            <a:ext cx="1280160" cy="3746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2605CD-21AF-22EA-228C-E5B8F6225E6B}"/>
              </a:ext>
            </a:extLst>
          </p:cNvPr>
          <p:cNvSpPr txBox="1"/>
          <p:nvPr userDrawn="1"/>
        </p:nvSpPr>
        <p:spPr>
          <a:xfrm>
            <a:off x="958653" y="6321399"/>
            <a:ext cx="139075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55389814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Title Slide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6EB06365-02F7-2AF1-8AE4-800356864B3F}"/>
              </a:ext>
            </a:extLst>
          </p:cNvPr>
          <p:cNvSpPr txBox="1"/>
          <p:nvPr userDrawn="1"/>
        </p:nvSpPr>
        <p:spPr>
          <a:xfrm>
            <a:off x="3590259" y="5438625"/>
            <a:ext cx="50114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www.digicert.com</a:t>
            </a:r>
            <a:endParaRPr lang="en-US" sz="240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2CB8DC65-DB28-4300-7D9E-565EBB342B51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578EA667-6051-5CE6-8DF2-8DDC604DEA62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28E034-2102-0266-2242-CD92CBF9B131}"/>
              </a:ext>
            </a:extLst>
          </p:cNvPr>
          <p:cNvSpPr txBox="1"/>
          <p:nvPr userDrawn="1"/>
        </p:nvSpPr>
        <p:spPr>
          <a:xfrm>
            <a:off x="3473958" y="6080760"/>
            <a:ext cx="52440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>
                <a:solidFill>
                  <a:schemeClr val="bg1">
                    <a:alpha val="50000"/>
                  </a:schemeClr>
                </a:solidFill>
              </a:rPr>
              <a:t>Copyright ©2025 DigiCert, Inc. All rights reserved.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ECF184A-A6B7-0460-5685-1137965201E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800" y="2492298"/>
            <a:ext cx="5486400" cy="160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509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3.xml"/><Relationship Id="rId1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3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32.xml"/><Relationship Id="rId1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2.xml"/><Relationship Id="rId16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0.xml"/><Relationship Id="rId1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53.xml"/><Relationship Id="rId18" Type="http://schemas.openxmlformats.org/officeDocument/2006/relationships/slideLayout" Target="../slideLayouts/slideLayout58.xml"/><Relationship Id="rId3" Type="http://schemas.openxmlformats.org/officeDocument/2006/relationships/slideLayout" Target="../slideLayouts/slideLayout43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slideLayout" Target="../slideLayouts/slideLayout60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0.xml"/><Relationship Id="rId19" Type="http://schemas.openxmlformats.org/officeDocument/2006/relationships/slideLayout" Target="../slideLayouts/slideLayout59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6C1AAA-E4E5-222F-A032-D136A53AE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365125"/>
            <a:ext cx="1138428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7A113-5684-A32E-E51D-36C724A5AA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1479" y="1694121"/>
            <a:ext cx="11384279" cy="44828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2835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74" r:id="rId3"/>
    <p:sldLayoutId id="2147483654" r:id="rId4"/>
    <p:sldLayoutId id="2147483716" r:id="rId5"/>
    <p:sldLayoutId id="2147483650" r:id="rId6"/>
    <p:sldLayoutId id="2147483669" r:id="rId7"/>
    <p:sldLayoutId id="2147483667" r:id="rId8"/>
    <p:sldLayoutId id="2147483668" r:id="rId9"/>
    <p:sldLayoutId id="2147483661" r:id="rId10"/>
    <p:sldLayoutId id="2147483662" r:id="rId11"/>
    <p:sldLayoutId id="2147483675" r:id="rId12"/>
    <p:sldLayoutId id="2147483676" r:id="rId13"/>
    <p:sldLayoutId id="2147483677" r:id="rId14"/>
    <p:sldLayoutId id="2147483719" r:id="rId15"/>
    <p:sldLayoutId id="2147483664" r:id="rId16"/>
    <p:sldLayoutId id="2147483665" r:id="rId17"/>
    <p:sldLayoutId id="2147483651" r:id="rId18"/>
    <p:sldLayoutId id="2147483672" r:id="rId19"/>
    <p:sldLayoutId id="2147483660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6C1AAA-E4E5-222F-A032-D136A53AE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365125"/>
            <a:ext cx="1138428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7A113-5684-A32E-E51D-36C724A5AA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1479" y="1694121"/>
            <a:ext cx="11384279" cy="44828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56138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17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720" r:id="rId15"/>
    <p:sldLayoutId id="2147483692" r:id="rId16"/>
    <p:sldLayoutId id="2147483693" r:id="rId17"/>
    <p:sldLayoutId id="2147483694" r:id="rId18"/>
    <p:sldLayoutId id="2147483695" r:id="rId19"/>
    <p:sldLayoutId id="2147483696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6C1AAA-E4E5-222F-A032-D136A53AE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365125"/>
            <a:ext cx="1138428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7A113-5684-A32E-E51D-36C724A5AA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1479" y="1694121"/>
            <a:ext cx="11384279" cy="44828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00395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18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21" r:id="rId15"/>
    <p:sldLayoutId id="2147483711" r:id="rId16"/>
    <p:sldLayoutId id="2147483712" r:id="rId17"/>
    <p:sldLayoutId id="2147483713" r:id="rId18"/>
    <p:sldLayoutId id="2147483714" r:id="rId19"/>
    <p:sldLayoutId id="2147483715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0932" y="1519237"/>
            <a:ext cx="10972800" cy="1909763"/>
          </a:xfrm>
        </p:spPr>
        <p:txBody>
          <a:bodyPr/>
          <a:lstStyle/>
          <a:p>
            <a:pPr algn="ctr"/>
            <a:r>
              <a:rPr sz="4000" b="1" dirty="0">
                <a:solidFill>
                  <a:srgbClr val="FFFFFF"/>
                </a:solidFill>
                <a:latin typeface="Roboto"/>
              </a:rPr>
              <a:t>Q-Shield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9600" y="3640837"/>
            <a:ext cx="10972800" cy="912628"/>
          </a:xfrm>
        </p:spPr>
        <p:txBody>
          <a:bodyPr>
            <a:normAutofit fontScale="85000" lnSpcReduction="20000"/>
          </a:bodyPr>
          <a:lstStyle/>
          <a:p>
            <a:pPr algn="ctr"/>
            <a:r>
              <a:rPr sz="2000" dirty="0">
                <a:solidFill>
                  <a:srgbClr val="CCCCCC"/>
                </a:solidFill>
                <a:latin typeface="Roboto"/>
              </a:rPr>
              <a:t>Securing Every IoT Device Against the Quantum Threat</a:t>
            </a:r>
          </a:p>
          <a:p>
            <a:pPr algn="ctr">
              <a:spcBef>
                <a:spcPts val="1600"/>
              </a:spcBef>
            </a:pPr>
            <a:r>
              <a:rPr sz="1600">
                <a:solidFill>
                  <a:srgbClr val="999999"/>
                </a:solidFill>
                <a:latin typeface="Roboto"/>
              </a:rPr>
              <a:t>Hackathon 202</a:t>
            </a:r>
            <a:r>
              <a:rPr lang="en-US" sz="1600">
                <a:solidFill>
                  <a:srgbClr val="999999"/>
                </a:solidFill>
                <a:latin typeface="Roboto"/>
              </a:rPr>
              <a:t>6</a:t>
            </a:r>
            <a:r>
              <a:rPr sz="1600">
                <a:solidFill>
                  <a:srgbClr val="999999"/>
                </a:solidFill>
                <a:latin typeface="Roboto"/>
              </a:rPr>
              <a:t>  </a:t>
            </a:r>
            <a:r>
              <a:rPr sz="1600" dirty="0">
                <a:solidFill>
                  <a:srgbClr val="999999"/>
                </a:solidFill>
                <a:latin typeface="Roboto"/>
              </a:rPr>
              <a:t>|  DigiCert Trust Lifecycle Manager</a:t>
            </a:r>
          </a:p>
          <a:p>
            <a:pPr algn="ctr">
              <a:spcBef>
                <a:spcPts val="1200"/>
              </a:spcBef>
            </a:pPr>
            <a:r>
              <a:rPr sz="1400" dirty="0" err="1">
                <a:solidFill>
                  <a:srgbClr val="E5753C"/>
                </a:solidFill>
                <a:latin typeface="Roboto"/>
              </a:rPr>
              <a:t>Mahendra</a:t>
            </a:r>
            <a:r>
              <a:rPr sz="1400" dirty="0">
                <a:solidFill>
                  <a:srgbClr val="E5753C"/>
                </a:solidFill>
                <a:latin typeface="Roboto"/>
              </a:rPr>
              <a:t> </a:t>
            </a:r>
            <a:r>
              <a:rPr sz="1400" dirty="0" err="1">
                <a:solidFill>
                  <a:srgbClr val="E5753C"/>
                </a:solidFill>
                <a:latin typeface="Roboto"/>
              </a:rPr>
              <a:t>Shelke</a:t>
            </a:r>
            <a:r>
              <a:rPr sz="1400" dirty="0">
                <a:solidFill>
                  <a:srgbClr val="E5753C"/>
                </a:solidFill>
                <a:latin typeface="Roboto"/>
              </a:rPr>
              <a:t>  |  </a:t>
            </a:r>
            <a:r>
              <a:rPr sz="1400" dirty="0" err="1">
                <a:solidFill>
                  <a:srgbClr val="E5753C"/>
                </a:solidFill>
                <a:latin typeface="Roboto"/>
              </a:rPr>
              <a:t>Jetesh</a:t>
            </a:r>
            <a:r>
              <a:rPr sz="1400" dirty="0">
                <a:solidFill>
                  <a:srgbClr val="E5753C"/>
                </a:solidFill>
                <a:latin typeface="Roboto"/>
              </a:rPr>
              <a:t> Sharma  |  Shiva </a:t>
            </a:r>
            <a:r>
              <a:rPr sz="1400" dirty="0" err="1">
                <a:solidFill>
                  <a:srgbClr val="E5753C"/>
                </a:solidFill>
                <a:latin typeface="Roboto"/>
              </a:rPr>
              <a:t>Burade</a:t>
            </a:r>
            <a:endParaRPr sz="1400" dirty="0">
              <a:solidFill>
                <a:srgbClr val="E5753C"/>
              </a:solidFill>
              <a:latin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Roboto"/>
              </a:rPr>
              <a:t>Three Problems You Can't See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Roboto"/>
              </a:rPr>
              <a:t>1000s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dirty="0">
                <a:solidFill>
                  <a:srgbClr val="CCCCCC"/>
                </a:solidFill>
                <a:latin typeface="Roboto"/>
              </a:rPr>
              <a:t>IoT Devices
per Enterprise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0" y="11887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E5753C"/>
                </a:solidFill>
                <a:latin typeface="Roboto"/>
              </a:rPr>
              <a:t>~30%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CCCCCC"/>
                </a:solidFill>
                <a:latin typeface="Roboto"/>
              </a:rPr>
              <a:t>Devices with
Zero Certificates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E5753C"/>
                </a:solidFill>
                <a:latin typeface="Roboto"/>
              </a:rPr>
              <a:t>87%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CCCCCC"/>
                </a:solidFill>
                <a:latin typeface="Roboto"/>
              </a:rPr>
              <a:t>Running Deprecated
Cryptography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11887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E5753C"/>
                </a:solidFill>
                <a:latin typeface="Roboto"/>
              </a:rPr>
              <a:t>~300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CCCCCC"/>
                </a:solidFill>
                <a:latin typeface="Roboto"/>
              </a:rPr>
              <a:t>Until CNSA 2.0
Deadline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108960"/>
            <a:ext cx="3520440" cy="310896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E575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38328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5753C"/>
                </a:solidFill>
                <a:latin typeface="Roboto"/>
              </a:rPr>
              <a:t>No Cryptographic 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3063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CCCCCC"/>
                </a:solidFill>
                <a:latin typeface="Roboto"/>
              </a:rPr>
              <a:t>Thousands of brownfield devices have zero certificates or key material. Your security team has no visibility into their cryptographic state.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3108960"/>
            <a:ext cx="3520440" cy="310896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E575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338328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5753C"/>
                </a:solidFill>
                <a:latin typeface="Roboto"/>
              </a:rPr>
              <a:t>Algorithm Confusion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931920"/>
            <a:ext cx="3063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CCCCCC"/>
                </a:solidFill>
                <a:latin typeface="Roboto"/>
              </a:rPr>
              <a:t>Not every device can run ML-DSA-87. A Cortex-M0+ sensor with 16KB RAM needs entirely different PQC algorithms than your cloud servers.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108960"/>
            <a:ext cx="3520440" cy="310896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E575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75320" y="338328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5753C"/>
                </a:solidFill>
                <a:latin typeface="Roboto"/>
              </a:rPr>
              <a:t>No Deadline 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931920"/>
            <a:ext cx="3063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CCCCCC"/>
                </a:solidFill>
                <a:latin typeface="Roboto"/>
              </a:rPr>
              <a:t>CNSA 2.0 mandates PQC by Jan 1, 2027. Without an ordered migration blueprint, you’re flying blind toward a hard regulatory deadline.</a:t>
            </a:r>
          </a:p>
        </p:txBody>
      </p:sp>
      <p:sp>
        <p:nvSpPr>
          <p:cNvPr id="20" name="TextBox Source"/>
          <p:cNvSpPr txBox="1"/>
          <p:nvPr/>
        </p:nvSpPr>
        <p:spPr>
          <a:xfrm>
            <a:off x="6096000" y="6438832"/>
            <a:ext cx="512423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 dirty="0">
                <a:solidFill>
                  <a:srgbClr val="999999"/>
                </a:solidFill>
                <a:latin typeface="Roboto"/>
              </a:rPr>
              <a:t>Sources: NSA CNSA 2.0 Advisory (2022), NIST PQC Standards (2024), DigiCert IoT Security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Roboto"/>
              </a:rPr>
              <a:t>Our Solution: Three Pillars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520440" cy="484632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85800" y="1534160"/>
            <a:ext cx="502920" cy="502920"/>
          </a:xfrm>
          <a:prstGeom prst="ellipse">
            <a:avLst/>
          </a:prstGeom>
          <a:solidFill>
            <a:srgbClr val="609B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46304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09BCE"/>
                </a:solidFill>
                <a:latin typeface="Roboto"/>
              </a:rPr>
              <a:t>DISCOVER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73736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Roboto"/>
              </a:rPr>
              <a:t>Reach Every Device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40280"/>
            <a:ext cx="3063240" cy="25400"/>
          </a:xfrm>
          <a:prstGeom prst="rect">
            <a:avLst/>
          </a:prstGeom>
          <a:solidFill>
            <a:srgbClr val="609B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3063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TrustEdge Agent for capable devices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Kernel Module for constrained IoT (≥8KB RAM)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Multi-language SDK (Python, C, Go)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Azure IoT, AWS IoT, SCADA connectors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188720"/>
            <a:ext cx="3433110" cy="484632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480560" y="1562414"/>
            <a:ext cx="502920" cy="502920"/>
          </a:xfrm>
          <a:prstGeom prst="ellipse">
            <a:avLst/>
          </a:prstGeom>
          <a:solidFill>
            <a:srgbClr val="609B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dirty="0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46304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09BCE"/>
                </a:solidFill>
                <a:latin typeface="Roboto"/>
              </a:rPr>
              <a:t>ASSESS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73736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Roboto"/>
              </a:rPr>
              <a:t>Algorithm Intelligence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240280"/>
            <a:ext cx="3063240" cy="25400"/>
          </a:xfrm>
          <a:prstGeom prst="rect">
            <a:avLst/>
          </a:prstGeom>
          <a:solidFill>
            <a:srgbClr val="609B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0" y="2468880"/>
            <a:ext cx="3063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NIST-approved PQC algorithm matrix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Device Advisor: RAM constraints → right algorithm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CNSA 2.0 deprecation timeline tracking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Per-device-class recommendations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188720"/>
            <a:ext cx="3459480" cy="484632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75320" y="1534160"/>
            <a:ext cx="502920" cy="502920"/>
          </a:xfrm>
          <a:prstGeom prst="ellipse">
            <a:avLst/>
          </a:prstGeom>
          <a:solidFill>
            <a:srgbClr val="E57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146304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5753C"/>
                </a:solidFill>
                <a:latin typeface="Roboto"/>
              </a:rPr>
              <a:t>MIGRATE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73736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Roboto"/>
              </a:rPr>
              <a:t>Readiness Blueprint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2240280"/>
            <a:ext cx="3063240" cy="25400"/>
          </a:xfrm>
          <a:prstGeom prst="rect">
            <a:avLst/>
          </a:prstGeom>
          <a:solidFill>
            <a:srgbClr val="E57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75320" y="2468880"/>
            <a:ext cx="3063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6-step ordered migration plan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Deadline projection with velocity modeling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Hybrid certificates for seamless transition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Real-time progress tracking to Jan 1, 2027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Roboto"/>
              </a:rPr>
              <a:t>Key Innovation: Two-Agent Discovery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394960" cy="475488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609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09BCE"/>
                </a:solidFill>
                <a:latin typeface="Roboto"/>
              </a:rPr>
              <a:t>TrustEdge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999999"/>
                </a:solidFill>
                <a:latin typeface="Roboto"/>
              </a:rPr>
              <a:t>Full-capability agent for server-class &amp; powerful devices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00">
                <a:solidFill>
                  <a:srgbClr val="609BCE"/>
                </a:solidFill>
                <a:latin typeface="Roboto"/>
              </a:rPr>
              <a:t>✓  Full certificate lifecycle (issue, renew, revoke)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609BCE"/>
                </a:solidFill>
                <a:latin typeface="Roboto"/>
              </a:rPr>
              <a:t>✓  Complete PQC algorithm deployment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609BCE"/>
                </a:solidFill>
                <a:latin typeface="Roboto"/>
              </a:rPr>
              <a:t>✓  Continuous compliance monitoring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609BCE"/>
                </a:solidFill>
                <a:latin typeface="Roboto"/>
              </a:rPr>
              <a:t>✓  Requires: 256KB+ RAM, OS with package manager</a:t>
            </a:r>
          </a:p>
          <a:p>
            <a:pPr>
              <a:spcBef>
                <a:spcPts val="800"/>
              </a:spcBef>
            </a:pPr>
            <a:endParaRPr sz="1400">
              <a:solidFill>
                <a:srgbClr val="609BCE"/>
              </a:solidFill>
              <a:latin typeface="Roboto"/>
            </a:endParaRPr>
          </a:p>
          <a:p>
            <a:pPr>
              <a:spcBef>
                <a:spcPts val="800"/>
              </a:spcBef>
            </a:pPr>
            <a:r>
              <a:rPr sz="1400" b="1">
                <a:solidFill>
                  <a:srgbClr val="FFFFFF"/>
                </a:solidFill>
                <a:latin typeface="Roboto"/>
              </a:rPr>
              <a:t>Best for: Cloud servers, gateways, imaging systems, industrial controllers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188720"/>
            <a:ext cx="5394960" cy="475488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E575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E5753C"/>
                </a:solidFill>
                <a:latin typeface="Roboto"/>
              </a:rPr>
              <a:t>Kernel Module  — 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999999"/>
                </a:solidFill>
                <a:latin typeface="Roboto"/>
              </a:rPr>
              <a:t>Lightweight agent for constrained brownfield IoT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00" dirty="0">
                <a:solidFill>
                  <a:srgbClr val="609BCE"/>
                </a:solidFill>
                <a:latin typeface="Roboto"/>
              </a:rPr>
              <a:t>✓  Works on devices with as little as 8KB RAM</a:t>
            </a:r>
          </a:p>
          <a:p>
            <a:pPr>
              <a:spcBef>
                <a:spcPts val="800"/>
              </a:spcBef>
            </a:pPr>
            <a:r>
              <a:rPr sz="1400" dirty="0">
                <a:solidFill>
                  <a:srgbClr val="609BCE"/>
                </a:solidFill>
                <a:latin typeface="Roboto"/>
              </a:rPr>
              <a:t>✓  Telemetry: cert status, memory, CPU, firmware hash</a:t>
            </a:r>
          </a:p>
          <a:p>
            <a:pPr>
              <a:spcBef>
                <a:spcPts val="800"/>
              </a:spcBef>
            </a:pPr>
            <a:r>
              <a:rPr sz="1400" dirty="0">
                <a:solidFill>
                  <a:srgbClr val="609BCE"/>
                </a:solidFill>
                <a:latin typeface="Roboto"/>
              </a:rPr>
              <a:t>✓  Communicates via UART / BLE / NB-IoT</a:t>
            </a:r>
          </a:p>
          <a:p>
            <a:pPr>
              <a:spcBef>
                <a:spcPts val="800"/>
              </a:spcBef>
            </a:pPr>
            <a:r>
              <a:rPr sz="1400" dirty="0">
                <a:solidFill>
                  <a:srgbClr val="609BCE"/>
                </a:solidFill>
                <a:latin typeface="Roboto"/>
              </a:rPr>
              <a:t>✓  No firmware update or OS required</a:t>
            </a:r>
          </a:p>
          <a:p>
            <a:pPr>
              <a:spcBef>
                <a:spcPts val="800"/>
              </a:spcBef>
            </a:pPr>
            <a:endParaRPr sz="1400" dirty="0">
              <a:solidFill>
                <a:srgbClr val="609BCE"/>
              </a:solidFill>
              <a:latin typeface="Roboto"/>
            </a:endParaRPr>
          </a:p>
          <a:p>
            <a:pPr>
              <a:spcBef>
                <a:spcPts val="800"/>
              </a:spcBef>
            </a:pPr>
            <a:r>
              <a:rPr sz="1400" b="1" dirty="0">
                <a:solidFill>
                  <a:srgbClr val="FFFFFF"/>
                </a:solidFill>
                <a:latin typeface="Roboto"/>
              </a:rPr>
              <a:t>Best for: Medical sensors, infusion pumps, wearables, automotive ECUs, industrial PLCs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2648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609BCE"/>
                </a:solidFill>
                <a:latin typeface="Roboto"/>
              </a:rPr>
              <a:t>Together: 100% fleet coverage — from cloud servers to 8KB sensors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FFFFF"/>
                </a:solidFill>
                <a:latin typeface="Roboto"/>
              </a:rPr>
              <a:t>Device Advisor: Right Algorithm, Right Device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7097" y="989552"/>
            <a:ext cx="11338560" cy="100584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E575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87097" y="989552"/>
            <a:ext cx="73152" cy="1005840"/>
          </a:xfrm>
          <a:prstGeom prst="rect">
            <a:avLst/>
          </a:prstGeom>
          <a:solidFill>
            <a:srgbClr val="E57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61417" y="1126712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Roboto"/>
              </a:rPr>
              <a:t>Constrained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1417" y="149247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  <a:latin typeface="Roboto"/>
              </a:rPr>
              <a:t>≤ 64KB 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7417" y="1218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5753C"/>
                </a:solidFill>
                <a:latin typeface="Roboto"/>
              </a:rPr>
              <a:t>ML-KEM-512 + FN-DSA-512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2137" y="1218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CC"/>
                </a:solidFill>
                <a:latin typeface="Roboto"/>
              </a:rPr>
              <a:t>Medical sensors, wearables, infusion pumps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96857" y="1172432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Roboto"/>
              </a:rPr>
              <a:t>~27% of fleet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7097" y="2132552"/>
            <a:ext cx="11338560" cy="100584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E575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87097" y="2132552"/>
            <a:ext cx="73152" cy="1005840"/>
          </a:xfrm>
          <a:prstGeom prst="rect">
            <a:avLst/>
          </a:prstGeom>
          <a:solidFill>
            <a:srgbClr val="E57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417" y="2269712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Roboto"/>
              </a:rPr>
              <a:t>Mid-Range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7" y="263547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  <a:latin typeface="Roboto"/>
              </a:rPr>
              <a:t>≤ 256KB 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7417" y="2361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5753C"/>
                </a:solidFill>
                <a:latin typeface="Roboto"/>
              </a:rPr>
              <a:t>ML-KEM-768 + ML-DSA-44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2137" y="2361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CC"/>
                </a:solidFill>
                <a:latin typeface="Roboto"/>
              </a:rPr>
              <a:t>Patient monitors, V2X modules, PLCs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6857" y="2315432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Roboto"/>
              </a:rPr>
              <a:t>~32% of fleet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7097" y="3275552"/>
            <a:ext cx="11338560" cy="100584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609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87097" y="3275552"/>
            <a:ext cx="73152" cy="1005840"/>
          </a:xfrm>
          <a:prstGeom prst="rect">
            <a:avLst/>
          </a:prstGeom>
          <a:solidFill>
            <a:srgbClr val="609B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1417" y="3412712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Roboto"/>
              </a:rPr>
              <a:t>Powerful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417" y="377847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  <a:latin typeface="Roboto"/>
              </a:rPr>
              <a:t>≤ 4MB 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7417" y="3504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609BCE"/>
                </a:solidFill>
                <a:latin typeface="Roboto"/>
              </a:rPr>
              <a:t>ML-KEM-1024 + ML-DSA-65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2137" y="3504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CC"/>
                </a:solidFill>
                <a:latin typeface="Roboto"/>
              </a:rPr>
              <a:t>Imaging systems, gateways, smart-home hubs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6857" y="3458432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Roboto"/>
              </a:rPr>
              <a:t>~24% of fleet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7097" y="4418552"/>
            <a:ext cx="11338560" cy="100584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609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87097" y="4418552"/>
            <a:ext cx="73152" cy="1005840"/>
          </a:xfrm>
          <a:prstGeom prst="rect">
            <a:avLst/>
          </a:prstGeom>
          <a:solidFill>
            <a:srgbClr val="609B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1417" y="4555712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Roboto"/>
              </a:rPr>
              <a:t>Server-Class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417" y="492147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  <a:latin typeface="Roboto"/>
              </a:rPr>
              <a:t>Unlimited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47417" y="4647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609BCE"/>
                </a:solidFill>
                <a:latin typeface="Roboto"/>
              </a:rPr>
              <a:t>ML-KEM-1024 + ML-DSA-87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2137" y="4647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CC"/>
                </a:solidFill>
                <a:latin typeface="Roboto"/>
              </a:rPr>
              <a:t>Cloud servers, enterprise infrastructure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96857" y="4601432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Roboto"/>
              </a:rPr>
              <a:t>~17% of fleet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7097" y="5470112"/>
            <a:ext cx="11338560" cy="82296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1417" y="55615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E5753C"/>
                </a:solidFill>
                <a:latin typeface="Roboto"/>
              </a:rPr>
              <a:t>CNSA 2.0 Timeline:  </a:t>
            </a:r>
            <a:r>
              <a:rPr sz="1300" dirty="0">
                <a:solidFill>
                  <a:srgbClr val="CCCCCC"/>
                </a:solidFill>
                <a:latin typeface="Roboto"/>
              </a:rPr>
              <a:t>2025: Prefer PQC  →  2027: New acquisitions require PQC  →  2030: Exclusively PQC  →  2035: All systems sunset classical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Roboto"/>
              </a:rPr>
              <a:t>Business Value &amp; Market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609BCE"/>
                </a:solidFill>
                <a:latin typeface="Roboto"/>
              </a:rPr>
              <a:t>$2.8B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737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CCCCCC"/>
                </a:solidFill>
                <a:latin typeface="Roboto"/>
              </a:rPr>
              <a:t>PQC Market
by 2030 (CAGR 46%)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09728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Roboto"/>
              </a:rPr>
              <a:t>39B+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37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CCCCCC"/>
                </a:solidFill>
                <a:latin typeface="Roboto"/>
              </a:rPr>
              <a:t>IoT Devices
Worldwide by 2030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E5753C"/>
                </a:solidFill>
                <a:latin typeface="Roboto"/>
              </a:rPr>
              <a:t>91%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737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CCCCCC"/>
                </a:solidFill>
                <a:latin typeface="Roboto"/>
              </a:rPr>
              <a:t>Lack Formal PQC
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09728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E5753C"/>
                </a:solidFill>
                <a:latin typeface="Roboto"/>
              </a:rPr>
              <a:t>$4.88M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737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CCCCCC"/>
                </a:solidFill>
                <a:latin typeface="Roboto"/>
              </a:rPr>
              <a:t>Avg. Cost of
a Data Breach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059" y="2579336"/>
            <a:ext cx="5394960" cy="347472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609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7379" y="2807936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09BCE"/>
                </a:solidFill>
                <a:latin typeface="Roboto"/>
              </a:rPr>
              <a:t>Customer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379" y="3310856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Reduce migration timeline from years to weeks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100% fleet visibility — including brownfield IoT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Automated algorithm selection eliminates guesswork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Hybrid certs: zero-downtime transition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Regulatory compliance ahead of CNSA 2.0 deadline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Avoid "Harvest Now, Decrypt Later" exposure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2339" y="2579336"/>
            <a:ext cx="5394960" cy="347472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609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36659" y="2807936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09BCE"/>
                </a:solidFill>
                <a:latin typeface="Roboto"/>
              </a:rPr>
              <a:t>Competitive Advantage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6659" y="3310856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Only solution reaching 8KB brownfield devices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Device-aware algorithm matching (not one-size-fits-all)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Real PQC proof via Q-Shield live demo (liboqs)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Executive storytelling with 6-chapter guided tour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Extends DigiCert TLM into post-quantum era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5 industry verticals: Medical, Auto, Industrial, Smart Home, Enterprise</a:t>
            </a:r>
          </a:p>
        </p:txBody>
      </p:sp>
      <p:sp>
        <p:nvSpPr>
          <p:cNvPr id="17" name="TextBox Source">
            <a:extLst>
              <a:ext uri="{FF2B5EF4-FFF2-40B4-BE49-F238E27FC236}">
                <a16:creationId xmlns:a16="http://schemas.microsoft.com/office/drawing/2014/main" id="{A78BBB39-5165-4CE8-5F38-29A3C01AE6C8}"/>
              </a:ext>
            </a:extLst>
          </p:cNvPr>
          <p:cNvSpPr txBox="1"/>
          <p:nvPr/>
        </p:nvSpPr>
        <p:spPr>
          <a:xfrm>
            <a:off x="6217920" y="6284829"/>
            <a:ext cx="512423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 dirty="0">
                <a:solidFill>
                  <a:srgbClr val="999999"/>
                </a:solidFill>
                <a:latin typeface="Roboto"/>
              </a:rPr>
              <a:t>Sources: NSA CNSA 2.0 Advisory (2022), NIST PQC Standards (2024), DigiCert IoT Security Report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sz="4000" b="1">
                <a:solidFill>
                  <a:srgbClr val="FFFFFF"/>
                </a:solidFill>
                <a:latin typeface="Roboto"/>
              </a:rPr>
              <a:t>The Quantum Clock Is Ticking.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25000" lnSpcReduction="20000"/>
          </a:bodyPr>
          <a:lstStyle/>
          <a:p>
            <a:pPr algn="ctr"/>
            <a:r>
              <a:rPr sz="2200">
                <a:solidFill>
                  <a:srgbClr val="CCCCCC"/>
                </a:solidFill>
                <a:latin typeface="Roboto"/>
              </a:rPr>
              <a:t>Every device discovered is a vulnerability closed.</a:t>
            </a:r>
          </a:p>
          <a:p>
            <a:pPr algn="ctr">
              <a:spcBef>
                <a:spcPts val="800"/>
              </a:spcBef>
            </a:pPr>
            <a:r>
              <a:rPr sz="2200">
                <a:solidFill>
                  <a:srgbClr val="CCCCCC"/>
                </a:solidFill>
                <a:latin typeface="Roboto"/>
              </a:rPr>
              <a:t>Every algorithm matched is a risk eliminated.</a:t>
            </a:r>
          </a:p>
          <a:p>
            <a:pPr algn="ctr">
              <a:spcBef>
                <a:spcPts val="800"/>
              </a:spcBef>
            </a:pPr>
            <a:r>
              <a:rPr sz="2200" b="1">
                <a:solidFill>
                  <a:srgbClr val="E5753C"/>
                </a:solidFill>
                <a:latin typeface="Roboto"/>
              </a:rPr>
              <a:t>Every day counts.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572000"/>
            <a:ext cx="85039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dirty="0">
                <a:solidFill>
                  <a:srgbClr val="609BCE"/>
                </a:solidFill>
                <a:latin typeface="Roboto"/>
              </a:rPr>
              <a:t>Q-Shield  —  Discover. Assess. Migrate.</a:t>
            </a:r>
          </a:p>
          <a:p>
            <a:pPr algn="ctr">
              <a:spcBef>
                <a:spcPts val="1200"/>
              </a:spcBef>
            </a:pPr>
            <a:r>
              <a:rPr sz="1400" dirty="0">
                <a:solidFill>
                  <a:srgbClr val="999999"/>
                </a:solidFill>
                <a:latin typeface="Roboto"/>
              </a:rPr>
              <a:t>Live Demo Available  |  DigiCert Hackathon 202</a:t>
            </a:r>
            <a:r>
              <a:rPr lang="en-US" sz="1400" dirty="0">
                <a:solidFill>
                  <a:srgbClr val="999999"/>
                </a:solidFill>
                <a:latin typeface="Roboto"/>
              </a:rPr>
              <a:t>6</a:t>
            </a:r>
            <a:endParaRPr sz="1400" dirty="0">
              <a:solidFill>
                <a:srgbClr val="999999"/>
              </a:solidFill>
              <a:latin typeface="Robo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giCert PUBLIC">
  <a:themeElements>
    <a:clrScheme name="DigiCert 2025">
      <a:dk1>
        <a:srgbClr val="222222"/>
      </a:dk1>
      <a:lt1>
        <a:srgbClr val="FFFFFF"/>
      </a:lt1>
      <a:dk2>
        <a:srgbClr val="000000"/>
      </a:dk2>
      <a:lt2>
        <a:srgbClr val="47565D"/>
      </a:lt2>
      <a:accent1>
        <a:srgbClr val="083C77"/>
      </a:accent1>
      <a:accent2>
        <a:srgbClr val="0174C3"/>
      </a:accent2>
      <a:accent3>
        <a:srgbClr val="58C3C3"/>
      </a:accent3>
      <a:accent4>
        <a:srgbClr val="F95738"/>
      </a:accent4>
      <a:accent5>
        <a:srgbClr val="EE9649"/>
      </a:accent5>
      <a:accent6>
        <a:srgbClr val="F5D35E"/>
      </a:accent6>
      <a:hlink>
        <a:srgbClr val="0174C3"/>
      </a:hlink>
      <a:folHlink>
        <a:srgbClr val="083C77"/>
      </a:folHlink>
    </a:clrScheme>
    <a:fontScheme name="Custom 1">
      <a:majorFont>
        <a:latin typeface="Roboto Condensed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igicert-2025-presentation-template" id="{AB0347C9-4109-DA45-8E9F-3DF4FB334A8F}" vid="{38648779-ED4B-0B40-AB34-2915B7BA50B3}"/>
    </a:ext>
  </a:extLst>
</a:theme>
</file>

<file path=ppt/theme/theme2.xml><?xml version="1.0" encoding="utf-8"?>
<a:theme xmlns:a="http://schemas.openxmlformats.org/drawingml/2006/main" name="DigiCert INTERNAL">
  <a:themeElements>
    <a:clrScheme name="DigiCert 2025">
      <a:dk1>
        <a:srgbClr val="222222"/>
      </a:dk1>
      <a:lt1>
        <a:srgbClr val="FFFFFF"/>
      </a:lt1>
      <a:dk2>
        <a:srgbClr val="000000"/>
      </a:dk2>
      <a:lt2>
        <a:srgbClr val="47565D"/>
      </a:lt2>
      <a:accent1>
        <a:srgbClr val="083C77"/>
      </a:accent1>
      <a:accent2>
        <a:srgbClr val="0174C3"/>
      </a:accent2>
      <a:accent3>
        <a:srgbClr val="58C3C3"/>
      </a:accent3>
      <a:accent4>
        <a:srgbClr val="F95738"/>
      </a:accent4>
      <a:accent5>
        <a:srgbClr val="EE9649"/>
      </a:accent5>
      <a:accent6>
        <a:srgbClr val="F5D35E"/>
      </a:accent6>
      <a:hlink>
        <a:srgbClr val="0174C3"/>
      </a:hlink>
      <a:folHlink>
        <a:srgbClr val="083C77"/>
      </a:folHlink>
    </a:clrScheme>
    <a:fontScheme name="Custom 1">
      <a:majorFont>
        <a:latin typeface="Roboto Condensed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igicert-2025-presentation-template" id="{AB0347C9-4109-DA45-8E9F-3DF4FB334A8F}" vid="{38648779-ED4B-0B40-AB34-2915B7BA50B3}"/>
    </a:ext>
  </a:extLst>
</a:theme>
</file>

<file path=ppt/theme/theme3.xml><?xml version="1.0" encoding="utf-8"?>
<a:theme xmlns:a="http://schemas.openxmlformats.org/drawingml/2006/main" name="DigiCert CONFIDENTIAL">
  <a:themeElements>
    <a:clrScheme name="DigiCert 2025">
      <a:dk1>
        <a:srgbClr val="222222"/>
      </a:dk1>
      <a:lt1>
        <a:srgbClr val="FFFFFF"/>
      </a:lt1>
      <a:dk2>
        <a:srgbClr val="000000"/>
      </a:dk2>
      <a:lt2>
        <a:srgbClr val="47565D"/>
      </a:lt2>
      <a:accent1>
        <a:srgbClr val="083C77"/>
      </a:accent1>
      <a:accent2>
        <a:srgbClr val="0174C3"/>
      </a:accent2>
      <a:accent3>
        <a:srgbClr val="58C3C3"/>
      </a:accent3>
      <a:accent4>
        <a:srgbClr val="F95738"/>
      </a:accent4>
      <a:accent5>
        <a:srgbClr val="EE9649"/>
      </a:accent5>
      <a:accent6>
        <a:srgbClr val="F5D35E"/>
      </a:accent6>
      <a:hlink>
        <a:srgbClr val="0174C3"/>
      </a:hlink>
      <a:folHlink>
        <a:srgbClr val="083C77"/>
      </a:folHlink>
    </a:clrScheme>
    <a:fontScheme name="Custom 1">
      <a:majorFont>
        <a:latin typeface="Roboto Condensed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igicert-2025-presentation-template" id="{AB0347C9-4109-DA45-8E9F-3DF4FB334A8F}" vid="{38648779-ED4B-0B40-AB34-2915B7BA50B3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</TotalTime>
  <Words>709</Words>
  <Application>Microsoft Macintosh PowerPoint</Application>
  <PresentationFormat>Widescreen</PresentationFormat>
  <Paragraphs>112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Roboto Condensed</vt:lpstr>
      <vt:lpstr>Aptos</vt:lpstr>
      <vt:lpstr>Arial</vt:lpstr>
      <vt:lpstr>Roboto</vt:lpstr>
      <vt:lpstr>DigiCert PUBLIC</vt:lpstr>
      <vt:lpstr>DigiCert INTERNAL</vt:lpstr>
      <vt:lpstr>DigiCert CONFIDENTIAL</vt:lpstr>
      <vt:lpstr>Q-Shield</vt:lpstr>
      <vt:lpstr>Three Problems You Can't See Today</vt:lpstr>
      <vt:lpstr>Our Solution: Three Pillars</vt:lpstr>
      <vt:lpstr>Key Innovation: Two-Agent Discovery</vt:lpstr>
      <vt:lpstr>Device Advisor: Right Algorithm, Right Device</vt:lpstr>
      <vt:lpstr>Business Value &amp; Market Impact</vt:lpstr>
      <vt:lpstr>The Quantum Clock Is Ticking.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Q-Shield</dc:title>
  <dc:creator>Michael Notko</dc:creator>
  <cp:lastModifiedBy>Mahendra Shelke</cp:lastModifiedBy>
  <cp:revision>30</cp:revision>
  <dcterms:created xsi:type="dcterms:W3CDTF">2024-11-12T22:34:45Z</dcterms:created>
  <dcterms:modified xsi:type="dcterms:W3CDTF">2026-03-04T04:00:07Z</dcterms:modified>
</cp:coreProperties>
</file>